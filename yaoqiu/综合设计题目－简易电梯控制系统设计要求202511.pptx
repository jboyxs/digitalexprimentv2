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1469" r:id="rId4"/>
    <p:sldId id="1470" r:id="rId5"/>
    <p:sldId id="1450" r:id="rId6"/>
    <p:sldId id="1471" r:id="rId7"/>
    <p:sldId id="1472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/>
          <p:cNvSpPr/>
          <p:nvPr/>
        </p:nvSpPr>
        <p:spPr bwMode="auto">
          <a:xfrm>
            <a:off x="0" y="4324350"/>
            <a:ext cx="1744663" cy="777875"/>
          </a:xfrm>
          <a:custGeom>
            <a:avLst/>
            <a:gdLst>
              <a:gd name="T0" fmla="*/ 2147483646 w 372"/>
              <a:gd name="T1" fmla="*/ 2147483646 h 166"/>
              <a:gd name="T2" fmla="*/ 2147483646 w 372"/>
              <a:gd name="T3" fmla="*/ 2147483646 h 166"/>
              <a:gd name="T4" fmla="*/ 2147483646 w 372"/>
              <a:gd name="T5" fmla="*/ 2147483646 h 166"/>
              <a:gd name="T6" fmla="*/ 2147483646 w 372"/>
              <a:gd name="T7" fmla="*/ 2147483646 h 166"/>
              <a:gd name="T8" fmla="*/ 2147483646 w 372"/>
              <a:gd name="T9" fmla="*/ 2147483646 h 166"/>
              <a:gd name="T10" fmla="*/ 2147483646 w 372"/>
              <a:gd name="T11" fmla="*/ 2147483646 h 166"/>
              <a:gd name="T12" fmla="*/ 2147483646 w 372"/>
              <a:gd name="T13" fmla="*/ 2147483646 h 166"/>
              <a:gd name="T14" fmla="*/ 2147483646 w 372"/>
              <a:gd name="T15" fmla="*/ 0 h 166"/>
              <a:gd name="T16" fmla="*/ 0 w 372"/>
              <a:gd name="T17" fmla="*/ 0 h 166"/>
              <a:gd name="T18" fmla="*/ 0 w 372"/>
              <a:gd name="T19" fmla="*/ 2147483646 h 166"/>
              <a:gd name="T20" fmla="*/ 2147483646 w 372"/>
              <a:gd name="T21" fmla="*/ 2147483646 h 1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94521-0321-4CD5-83F5-5B41DA9162D2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3" y="4529138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064908-57C7-47CC-8208-264263FF55D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/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B2A5D-34E5-42F3-B526-46418C371A0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06737-B7A3-4435-BE3A-FDA9D814131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/>
          <p:nvPr/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3530129"/>
            <a:ext cx="8915399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C782A-E636-4A8E-8600-C803647891E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40AC2-42C2-4AA5-969F-F2C13F4C80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/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4E77B-C190-447B-BA33-D17ECAD15FDA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023A7-04AC-4A73-B269-D0E5747AAA1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1"/>
          <p:cNvSpPr/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0EFD0-0F44-4DD2-A3AD-77EFDB64EED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A1A41-F570-4312-8A24-5E89D1787EC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/>
          <p:cNvSpPr/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AA4DC8-E240-4A27-85C0-850BAC2AFE63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A2B8D-A8CF-4FD2-90D9-A70442C7B84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/>
          <p:cNvSpPr/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0DFBF-ED9C-4AF8-A91E-66D5C323DB27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53DA7-8687-4EA1-8BA9-427DD77F7BF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/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64804-C561-4342-8851-2FA8819F497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B35CC-35A7-4126-8706-17AEB267274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/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92A39-11D1-4E46-8F42-F23B50C21B8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87B94E-4066-419B-9244-2E99D1900B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/>
          <p:nvPr/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2E531-0E9B-47C5-99C3-DAA842F9E71D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2B5E5-E2BC-4F93-8C11-0716AD32724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/>
          <p:nvPr/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TextBox 13"/>
          <p:cNvSpPr txBox="1">
            <a:spLocks noChangeArrowheads="1"/>
          </p:cNvSpPr>
          <p:nvPr/>
        </p:nvSpPr>
        <p:spPr bwMode="auto">
          <a:xfrm>
            <a:off x="2466975" y="647700"/>
            <a:ext cx="609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0">
                <a:solidFill>
                  <a:srgbClr val="A530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endParaRPr lang="en-US" altLang="zh-CN" sz="8000">
              <a:solidFill>
                <a:srgbClr val="A530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11114088" y="2905125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0">
                <a:solidFill>
                  <a:srgbClr val="A530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endParaRPr lang="en-US" altLang="zh-CN" sz="8000">
              <a:solidFill>
                <a:srgbClr val="A530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8C886-016A-4B54-80E4-3C218082589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CB38D1-5BE0-42C8-B54E-225B9295D58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/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09279-0B8B-4B27-8968-14FF361E1F5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A4C80D-3F53-4B87-9FD0-5847191F1FE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/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TextBox 16"/>
          <p:cNvSpPr txBox="1">
            <a:spLocks noChangeArrowheads="1"/>
          </p:cNvSpPr>
          <p:nvPr/>
        </p:nvSpPr>
        <p:spPr bwMode="auto">
          <a:xfrm>
            <a:off x="2466975" y="647700"/>
            <a:ext cx="609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0">
                <a:solidFill>
                  <a:srgbClr val="A530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endParaRPr lang="en-US" altLang="zh-CN" sz="8000">
              <a:solidFill>
                <a:srgbClr val="A530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Box 17"/>
          <p:cNvSpPr txBox="1">
            <a:spLocks noChangeArrowheads="1"/>
          </p:cNvSpPr>
          <p:nvPr/>
        </p:nvSpPr>
        <p:spPr bwMode="auto">
          <a:xfrm>
            <a:off x="11114088" y="2905125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0">
                <a:solidFill>
                  <a:srgbClr val="A530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endParaRPr lang="en-US" altLang="zh-CN" sz="8000">
              <a:solidFill>
                <a:srgbClr val="A530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0AEB9-DC04-427A-859D-B37B7ABA828C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B1BE8-DCD7-46AE-821C-219DC3037D0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/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5DEA-B35C-4695-9024-735A097C24C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65C48F-8C2E-44AD-A42C-8975CD66C1F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/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DA483-B1D1-40DD-A9B5-9A5761A00D2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469F4-C974-4693-B5D0-024605C9CD8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/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2147483646 w 9248"/>
              <a:gd name="T1" fmla="*/ 2147483646 h 10000"/>
              <a:gd name="T2" fmla="*/ 2147483646 w 9248"/>
              <a:gd name="T3" fmla="*/ 2147483646 h 10000"/>
              <a:gd name="T4" fmla="*/ 2147483646 w 9248"/>
              <a:gd name="T5" fmla="*/ 2147483646 h 10000"/>
              <a:gd name="T6" fmla="*/ 2147483646 w 9248"/>
              <a:gd name="T7" fmla="*/ 0 h 10000"/>
              <a:gd name="T8" fmla="*/ 2147483646 w 9248"/>
              <a:gd name="T9" fmla="*/ 0 h 10000"/>
              <a:gd name="T10" fmla="*/ 0 w 9248"/>
              <a:gd name="T11" fmla="*/ 2147483646 h 10000"/>
              <a:gd name="T12" fmla="*/ 2147483646 w 9248"/>
              <a:gd name="T13" fmla="*/ 2147483646 h 10000"/>
              <a:gd name="T14" fmla="*/ 2147483646 w 9248"/>
              <a:gd name="T15" fmla="*/ 2147483646 h 10000"/>
              <a:gd name="T16" fmla="*/ 2147483646 w 9248"/>
              <a:gd name="T17" fmla="*/ 2147483646 h 10000"/>
              <a:gd name="T18" fmla="*/ 2147483646 w 9248"/>
              <a:gd name="T19" fmla="*/ 2147483646 h 10000"/>
              <a:gd name="T20" fmla="*/ 2147483646 w 9248"/>
              <a:gd name="T21" fmla="*/ 2147483646 h 10000"/>
              <a:gd name="T22" fmla="*/ 2147483646 w 9248"/>
              <a:gd name="T23" fmla="*/ 2147483646 h 10000"/>
              <a:gd name="T24" fmla="*/ 2147483646 w 924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0068D-F31B-4A52-B590-C118893B9CD3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4441C-693E-49C6-B20D-B1E1E6C5EA0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jpe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2"/>
          <p:cNvGrpSpPr/>
          <p:nvPr/>
        </p:nvGrpSpPr>
        <p:grpSpPr bwMode="auto">
          <a:xfrm>
            <a:off x="0" y="228600"/>
            <a:ext cx="2851150" cy="6638925"/>
            <a:chOff x="2487613" y="285750"/>
            <a:chExt cx="2428875" cy="5654676"/>
          </a:xfrm>
        </p:grpSpPr>
        <p:sp>
          <p:nvSpPr>
            <p:cNvPr id="1046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147483646 w 22"/>
                <a:gd name="T1" fmla="*/ 2147483646 h 136"/>
                <a:gd name="T2" fmla="*/ 2147483646 w 22"/>
                <a:gd name="T3" fmla="*/ 2147483646 h 136"/>
                <a:gd name="T4" fmla="*/ 0 w 22"/>
                <a:gd name="T5" fmla="*/ 0 h 136"/>
                <a:gd name="T6" fmla="*/ 0 w 22"/>
                <a:gd name="T7" fmla="*/ 2147483646 h 136"/>
                <a:gd name="T8" fmla="*/ 2147483646 w 22"/>
                <a:gd name="T9" fmla="*/ 2147483646 h 136"/>
                <a:gd name="T10" fmla="*/ 2147483646 w 22"/>
                <a:gd name="T11" fmla="*/ 2147483646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7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2147483646 w 140"/>
                <a:gd name="T1" fmla="*/ 2147483646 h 504"/>
                <a:gd name="T2" fmla="*/ 2147483646 w 140"/>
                <a:gd name="T3" fmla="*/ 2147483646 h 504"/>
                <a:gd name="T4" fmla="*/ 2147483646 w 140"/>
                <a:gd name="T5" fmla="*/ 2147483646 h 504"/>
                <a:gd name="T6" fmla="*/ 2147483646 w 140"/>
                <a:gd name="T7" fmla="*/ 2147483646 h 504"/>
                <a:gd name="T8" fmla="*/ 0 w 140"/>
                <a:gd name="T9" fmla="*/ 0 h 504"/>
                <a:gd name="T10" fmla="*/ 2147483646 w 140"/>
                <a:gd name="T11" fmla="*/ 2147483646 h 504"/>
                <a:gd name="T12" fmla="*/ 2147483646 w 140"/>
                <a:gd name="T13" fmla="*/ 2147483646 h 5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8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2147483646 w 132"/>
                <a:gd name="T1" fmla="*/ 2147483646 h 308"/>
                <a:gd name="T2" fmla="*/ 0 w 132"/>
                <a:gd name="T3" fmla="*/ 0 h 308"/>
                <a:gd name="T4" fmla="*/ 0 w 132"/>
                <a:gd name="T5" fmla="*/ 2147483646 h 308"/>
                <a:gd name="T6" fmla="*/ 2147483646 w 132"/>
                <a:gd name="T7" fmla="*/ 2147483646 h 308"/>
                <a:gd name="T8" fmla="*/ 2147483646 w 132"/>
                <a:gd name="T9" fmla="*/ 2147483646 h 308"/>
                <a:gd name="T10" fmla="*/ 2147483646 w 132"/>
                <a:gd name="T11" fmla="*/ 2147483646 h 308"/>
                <a:gd name="T12" fmla="*/ 2147483646 w 132"/>
                <a:gd name="T13" fmla="*/ 2147483646 h 308"/>
                <a:gd name="T14" fmla="*/ 2147483646 w 132"/>
                <a:gd name="T15" fmla="*/ 2147483646 h 3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9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147483646 w 37"/>
                <a:gd name="T1" fmla="*/ 2147483646 h 79"/>
                <a:gd name="T2" fmla="*/ 2147483646 w 37"/>
                <a:gd name="T3" fmla="*/ 2147483646 h 79"/>
                <a:gd name="T4" fmla="*/ 0 w 37"/>
                <a:gd name="T5" fmla="*/ 0 h 79"/>
                <a:gd name="T6" fmla="*/ 2147483646 w 37"/>
                <a:gd name="T7" fmla="*/ 214748364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0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2147483646 w 178"/>
                <a:gd name="T1" fmla="*/ 2147483646 h 722"/>
                <a:gd name="T2" fmla="*/ 2147483646 w 178"/>
                <a:gd name="T3" fmla="*/ 2147483646 h 722"/>
                <a:gd name="T4" fmla="*/ 2147483646 w 178"/>
                <a:gd name="T5" fmla="*/ 2147483646 h 722"/>
                <a:gd name="T6" fmla="*/ 2147483646 w 178"/>
                <a:gd name="T7" fmla="*/ 2147483646 h 722"/>
                <a:gd name="T8" fmla="*/ 0 w 178"/>
                <a:gd name="T9" fmla="*/ 0 h 722"/>
                <a:gd name="T10" fmla="*/ 2147483646 w 178"/>
                <a:gd name="T11" fmla="*/ 2147483646 h 722"/>
                <a:gd name="T12" fmla="*/ 2147483646 w 178"/>
                <a:gd name="T13" fmla="*/ 2147483646 h 722"/>
                <a:gd name="T14" fmla="*/ 2147483646 w 178"/>
                <a:gd name="T15" fmla="*/ 2147483646 h 722"/>
                <a:gd name="T16" fmla="*/ 2147483646 w 178"/>
                <a:gd name="T17" fmla="*/ 2147483646 h 722"/>
                <a:gd name="T18" fmla="*/ 2147483646 w 178"/>
                <a:gd name="T19" fmla="*/ 2147483646 h 722"/>
                <a:gd name="T20" fmla="*/ 2147483646 w 178"/>
                <a:gd name="T21" fmla="*/ 2147483646 h 7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1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2147483646 w 23"/>
                <a:gd name="T1" fmla="*/ 2147483646 h 635"/>
                <a:gd name="T2" fmla="*/ 2147483646 w 23"/>
                <a:gd name="T3" fmla="*/ 2147483646 h 635"/>
                <a:gd name="T4" fmla="*/ 2147483646 w 23"/>
                <a:gd name="T5" fmla="*/ 2147483646 h 635"/>
                <a:gd name="T6" fmla="*/ 2147483646 w 23"/>
                <a:gd name="T7" fmla="*/ 2147483646 h 635"/>
                <a:gd name="T8" fmla="*/ 2147483646 w 23"/>
                <a:gd name="T9" fmla="*/ 2147483646 h 635"/>
                <a:gd name="T10" fmla="*/ 2147483646 w 23"/>
                <a:gd name="T11" fmla="*/ 2147483646 h 635"/>
                <a:gd name="T12" fmla="*/ 2147483646 w 23"/>
                <a:gd name="T13" fmla="*/ 0 h 635"/>
                <a:gd name="T14" fmla="*/ 2147483646 w 23"/>
                <a:gd name="T15" fmla="*/ 0 h 635"/>
                <a:gd name="T16" fmla="*/ 2147483646 w 23"/>
                <a:gd name="T17" fmla="*/ 2147483646 h 635"/>
                <a:gd name="T18" fmla="*/ 2147483646 w 23"/>
                <a:gd name="T19" fmla="*/ 2147483646 h 6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2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2147483646 w 17"/>
                <a:gd name="T9" fmla="*/ 2147483646 h 107"/>
                <a:gd name="T10" fmla="*/ 0 w 17"/>
                <a:gd name="T11" fmla="*/ 0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3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2147483646 w 41"/>
                <a:gd name="T3" fmla="*/ 2147483646 h 222"/>
                <a:gd name="T4" fmla="*/ 2147483646 w 41"/>
                <a:gd name="T5" fmla="*/ 2147483646 h 222"/>
                <a:gd name="T6" fmla="*/ 2147483646 w 41"/>
                <a:gd name="T7" fmla="*/ 2147483646 h 222"/>
                <a:gd name="T8" fmla="*/ 2147483646 w 41"/>
                <a:gd name="T9" fmla="*/ 2147483646 h 222"/>
                <a:gd name="T10" fmla="*/ 2147483646 w 41"/>
                <a:gd name="T11" fmla="*/ 2147483646 h 222"/>
                <a:gd name="T12" fmla="*/ 2147483646 w 41"/>
                <a:gd name="T13" fmla="*/ 2147483646 h 222"/>
                <a:gd name="T14" fmla="*/ 2147483646 w 41"/>
                <a:gd name="T15" fmla="*/ 2147483646 h 222"/>
                <a:gd name="T16" fmla="*/ 2147483646 w 41"/>
                <a:gd name="T17" fmla="*/ 2147483646 h 222"/>
                <a:gd name="T18" fmla="*/ 0 w 41"/>
                <a:gd name="T19" fmla="*/ 0 h 2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4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2147483646 w 450"/>
                <a:gd name="T1" fmla="*/ 2147483646 h 878"/>
                <a:gd name="T2" fmla="*/ 2147483646 w 450"/>
                <a:gd name="T3" fmla="*/ 2147483646 h 878"/>
                <a:gd name="T4" fmla="*/ 2147483646 w 450"/>
                <a:gd name="T5" fmla="*/ 2147483646 h 878"/>
                <a:gd name="T6" fmla="*/ 2147483646 w 450"/>
                <a:gd name="T7" fmla="*/ 2147483646 h 878"/>
                <a:gd name="T8" fmla="*/ 2147483646 w 450"/>
                <a:gd name="T9" fmla="*/ 2147483646 h 878"/>
                <a:gd name="T10" fmla="*/ 2147483646 w 450"/>
                <a:gd name="T11" fmla="*/ 2147483646 h 878"/>
                <a:gd name="T12" fmla="*/ 2147483646 w 450"/>
                <a:gd name="T13" fmla="*/ 2147483646 h 878"/>
                <a:gd name="T14" fmla="*/ 2147483646 w 450"/>
                <a:gd name="T15" fmla="*/ 0 h 878"/>
                <a:gd name="T16" fmla="*/ 2147483646 w 450"/>
                <a:gd name="T17" fmla="*/ 2147483646 h 878"/>
                <a:gd name="T18" fmla="*/ 2147483646 w 450"/>
                <a:gd name="T19" fmla="*/ 2147483646 h 878"/>
                <a:gd name="T20" fmla="*/ 2147483646 w 450"/>
                <a:gd name="T21" fmla="*/ 2147483646 h 878"/>
                <a:gd name="T22" fmla="*/ 2147483646 w 450"/>
                <a:gd name="T23" fmla="*/ 2147483646 h 878"/>
                <a:gd name="T24" fmla="*/ 2147483646 w 450"/>
                <a:gd name="T25" fmla="*/ 2147483646 h 878"/>
                <a:gd name="T26" fmla="*/ 0 w 450"/>
                <a:gd name="T27" fmla="*/ 2147483646 h 878"/>
                <a:gd name="T28" fmla="*/ 0 w 450"/>
                <a:gd name="T29" fmla="*/ 2147483646 h 878"/>
                <a:gd name="T30" fmla="*/ 2147483646 w 450"/>
                <a:gd name="T31" fmla="*/ 2147483646 h 878"/>
                <a:gd name="T32" fmla="*/ 2147483646 w 450"/>
                <a:gd name="T33" fmla="*/ 2147483646 h 8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5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147483646 w 35"/>
                <a:gd name="T3" fmla="*/ 2147483646 h 73"/>
                <a:gd name="T4" fmla="*/ 2147483646 w 35"/>
                <a:gd name="T5" fmla="*/ 2147483646 h 73"/>
                <a:gd name="T6" fmla="*/ 0 w 35"/>
                <a:gd name="T7" fmla="*/ 0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6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2147483646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0 h 48"/>
                <a:gd name="T8" fmla="*/ 0 w 8"/>
                <a:gd name="T9" fmla="*/ 2147483646 h 48"/>
                <a:gd name="T10" fmla="*/ 2147483646 w 8"/>
                <a:gd name="T11" fmla="*/ 214748364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7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2147483646 w 52"/>
                <a:gd name="T1" fmla="*/ 2147483646 h 135"/>
                <a:gd name="T2" fmla="*/ 0 w 52"/>
                <a:gd name="T3" fmla="*/ 0 h 135"/>
                <a:gd name="T4" fmla="*/ 2147483646 w 52"/>
                <a:gd name="T5" fmla="*/ 2147483646 h 135"/>
                <a:gd name="T6" fmla="*/ 2147483646 w 52"/>
                <a:gd name="T7" fmla="*/ 2147483646 h 135"/>
                <a:gd name="T8" fmla="*/ 2147483646 w 52"/>
                <a:gd name="T9" fmla="*/ 2147483646 h 135"/>
                <a:gd name="T10" fmla="*/ 2147483646 w 52"/>
                <a:gd name="T11" fmla="*/ 2147483646 h 135"/>
                <a:gd name="T12" fmla="*/ 2147483646 w 52"/>
                <a:gd name="T13" fmla="*/ 2147483646 h 135"/>
                <a:gd name="T14" fmla="*/ 2147483646 w 52"/>
                <a:gd name="T15" fmla="*/ 2147483646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27" name="Group 9"/>
          <p:cNvGrpSpPr/>
          <p:nvPr/>
        </p:nvGrpSpPr>
        <p:grpSpPr bwMode="auto">
          <a:xfrm>
            <a:off x="26988" y="0"/>
            <a:ext cx="2357437" cy="6853238"/>
            <a:chOff x="6627813" y="194833"/>
            <a:chExt cx="1952625" cy="5678918"/>
          </a:xfrm>
        </p:grpSpPr>
        <p:sp>
          <p:nvSpPr>
            <p:cNvPr id="1034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>
                <a:gd name="T0" fmla="*/ 2147483646 w 103"/>
                <a:gd name="T1" fmla="*/ 2147483646 h 920"/>
                <a:gd name="T2" fmla="*/ 2147483646 w 103"/>
                <a:gd name="T3" fmla="*/ 2147483646 h 920"/>
                <a:gd name="T4" fmla="*/ 2147483646 w 103"/>
                <a:gd name="T5" fmla="*/ 2147483646 h 920"/>
                <a:gd name="T6" fmla="*/ 2147483646 w 103"/>
                <a:gd name="T7" fmla="*/ 2147483646 h 920"/>
                <a:gd name="T8" fmla="*/ 2147483646 w 103"/>
                <a:gd name="T9" fmla="*/ 2147483646 h 920"/>
                <a:gd name="T10" fmla="*/ 2147483646 w 103"/>
                <a:gd name="T11" fmla="*/ 2147483646 h 920"/>
                <a:gd name="T12" fmla="*/ 2147483646 w 103"/>
                <a:gd name="T13" fmla="*/ 2147483646 h 920"/>
                <a:gd name="T14" fmla="*/ 2147483646 w 103"/>
                <a:gd name="T15" fmla="*/ 2147483646 h 920"/>
                <a:gd name="T16" fmla="*/ 2147483646 w 103"/>
                <a:gd name="T17" fmla="*/ 2147483646 h 920"/>
                <a:gd name="T18" fmla="*/ 2147483646 w 103"/>
                <a:gd name="T19" fmla="*/ 2147483646 h 920"/>
                <a:gd name="T20" fmla="*/ 2147483646 w 103"/>
                <a:gd name="T21" fmla="*/ 2147483646 h 920"/>
                <a:gd name="T22" fmla="*/ 2147483646 w 103"/>
                <a:gd name="T23" fmla="*/ 0 h 920"/>
                <a:gd name="T24" fmla="*/ 0 w 103"/>
                <a:gd name="T25" fmla="*/ 0 h 920"/>
                <a:gd name="T26" fmla="*/ 2147483646 w 103"/>
                <a:gd name="T27" fmla="*/ 2147483646 h 920"/>
                <a:gd name="T28" fmla="*/ 2147483646 w 103"/>
                <a:gd name="T29" fmla="*/ 2147483646 h 9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5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2147483646 w 88"/>
                <a:gd name="T1" fmla="*/ 2147483646 h 330"/>
                <a:gd name="T2" fmla="*/ 2147483646 w 88"/>
                <a:gd name="T3" fmla="*/ 2147483646 h 330"/>
                <a:gd name="T4" fmla="*/ 2147483646 w 88"/>
                <a:gd name="T5" fmla="*/ 2147483646 h 330"/>
                <a:gd name="T6" fmla="*/ 2147483646 w 88"/>
                <a:gd name="T7" fmla="*/ 2147483646 h 330"/>
                <a:gd name="T8" fmla="*/ 2147483646 w 88"/>
                <a:gd name="T9" fmla="*/ 2147483646 h 330"/>
                <a:gd name="T10" fmla="*/ 0 w 88"/>
                <a:gd name="T11" fmla="*/ 0 h 330"/>
                <a:gd name="T12" fmla="*/ 2147483646 w 88"/>
                <a:gd name="T13" fmla="*/ 2147483646 h 330"/>
                <a:gd name="T14" fmla="*/ 2147483646 w 88"/>
                <a:gd name="T15" fmla="*/ 2147483646 h 3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6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2147483646 w 90"/>
                <a:gd name="T1" fmla="*/ 2147483646 h 207"/>
                <a:gd name="T2" fmla="*/ 0 w 90"/>
                <a:gd name="T3" fmla="*/ 0 h 207"/>
                <a:gd name="T4" fmla="*/ 2147483646 w 90"/>
                <a:gd name="T5" fmla="*/ 2147483646 h 207"/>
                <a:gd name="T6" fmla="*/ 2147483646 w 90"/>
                <a:gd name="T7" fmla="*/ 2147483646 h 207"/>
                <a:gd name="T8" fmla="*/ 2147483646 w 90"/>
                <a:gd name="T9" fmla="*/ 2147483646 h 207"/>
                <a:gd name="T10" fmla="*/ 2147483646 w 90"/>
                <a:gd name="T11" fmla="*/ 2147483646 h 207"/>
                <a:gd name="T12" fmla="*/ 2147483646 w 90"/>
                <a:gd name="T13" fmla="*/ 2147483646 h 207"/>
                <a:gd name="T14" fmla="*/ 2147483646 w 9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7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2147483646 w 115"/>
                <a:gd name="T1" fmla="*/ 2147483646 h 467"/>
                <a:gd name="T2" fmla="*/ 2147483646 w 115"/>
                <a:gd name="T3" fmla="*/ 2147483646 h 467"/>
                <a:gd name="T4" fmla="*/ 2147483646 w 115"/>
                <a:gd name="T5" fmla="*/ 2147483646 h 467"/>
                <a:gd name="T6" fmla="*/ 2147483646 w 115"/>
                <a:gd name="T7" fmla="*/ 2147483646 h 467"/>
                <a:gd name="T8" fmla="*/ 0 w 115"/>
                <a:gd name="T9" fmla="*/ 0 h 467"/>
                <a:gd name="T10" fmla="*/ 2147483646 w 115"/>
                <a:gd name="T11" fmla="*/ 2147483646 h 467"/>
                <a:gd name="T12" fmla="*/ 2147483646 w 115"/>
                <a:gd name="T13" fmla="*/ 2147483646 h 467"/>
                <a:gd name="T14" fmla="*/ 2147483646 w 115"/>
                <a:gd name="T15" fmla="*/ 2147483646 h 467"/>
                <a:gd name="T16" fmla="*/ 2147483646 w 115"/>
                <a:gd name="T17" fmla="*/ 2147483646 h 467"/>
                <a:gd name="T18" fmla="*/ 2147483646 w 115"/>
                <a:gd name="T19" fmla="*/ 2147483646 h 467"/>
                <a:gd name="T20" fmla="*/ 2147483646 w 115"/>
                <a:gd name="T21" fmla="*/ 2147483646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8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2147483646 w 36"/>
                <a:gd name="T1" fmla="*/ 2147483646 h 633"/>
                <a:gd name="T2" fmla="*/ 2147483646 w 36"/>
                <a:gd name="T3" fmla="*/ 2147483646 h 633"/>
                <a:gd name="T4" fmla="*/ 2147483646 w 36"/>
                <a:gd name="T5" fmla="*/ 2147483646 h 633"/>
                <a:gd name="T6" fmla="*/ 2147483646 w 36"/>
                <a:gd name="T7" fmla="*/ 2147483646 h 633"/>
                <a:gd name="T8" fmla="*/ 2147483646 w 36"/>
                <a:gd name="T9" fmla="*/ 2147483646 h 633"/>
                <a:gd name="T10" fmla="*/ 2147483646 w 36"/>
                <a:gd name="T11" fmla="*/ 0 h 633"/>
                <a:gd name="T12" fmla="*/ 2147483646 w 36"/>
                <a:gd name="T13" fmla="*/ 0 h 633"/>
                <a:gd name="T14" fmla="*/ 2147483646 w 36"/>
                <a:gd name="T15" fmla="*/ 2147483646 h 633"/>
                <a:gd name="T16" fmla="*/ 2147483646 w 36"/>
                <a:gd name="T17" fmla="*/ 2147483646 h 633"/>
                <a:gd name="T18" fmla="*/ 2147483646 w 36"/>
                <a:gd name="T19" fmla="*/ 2147483646 h 633"/>
                <a:gd name="T20" fmla="*/ 2147483646 w 36"/>
                <a:gd name="T21" fmla="*/ 2147483646 h 633"/>
                <a:gd name="T22" fmla="*/ 2147483646 w 36"/>
                <a:gd name="T23" fmla="*/ 2147483646 h 633"/>
                <a:gd name="T24" fmla="*/ 2147483646 w 36"/>
                <a:gd name="T25" fmla="*/ 2147483646 h 6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9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147483646 w 28"/>
                <a:gd name="T1" fmla="*/ 2147483646 h 59"/>
                <a:gd name="T2" fmla="*/ 2147483646 w 28"/>
                <a:gd name="T3" fmla="*/ 2147483646 h 59"/>
                <a:gd name="T4" fmla="*/ 0 w 28"/>
                <a:gd name="T5" fmla="*/ 0 h 59"/>
                <a:gd name="T6" fmla="*/ 2147483646 w 28"/>
                <a:gd name="T7" fmla="*/ 2147483646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0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2147483646 w 17"/>
                <a:gd name="T1" fmla="*/ 2147483646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0 w 17"/>
                <a:gd name="T9" fmla="*/ 0 h 107"/>
                <a:gd name="T10" fmla="*/ 0 w 17"/>
                <a:gd name="T11" fmla="*/ 2147483646 h 107"/>
                <a:gd name="T12" fmla="*/ 2147483646 w 17"/>
                <a:gd name="T13" fmla="*/ 2147483646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1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2147483646 w 294"/>
                <a:gd name="T1" fmla="*/ 2147483646 h 568"/>
                <a:gd name="T2" fmla="*/ 2147483646 w 294"/>
                <a:gd name="T3" fmla="*/ 2147483646 h 568"/>
                <a:gd name="T4" fmla="*/ 2147483646 w 294"/>
                <a:gd name="T5" fmla="*/ 2147483646 h 568"/>
                <a:gd name="T6" fmla="*/ 2147483646 w 294"/>
                <a:gd name="T7" fmla="*/ 2147483646 h 568"/>
                <a:gd name="T8" fmla="*/ 2147483646 w 294"/>
                <a:gd name="T9" fmla="*/ 2147483646 h 568"/>
                <a:gd name="T10" fmla="*/ 2147483646 w 294"/>
                <a:gd name="T11" fmla="*/ 2147483646 h 568"/>
                <a:gd name="T12" fmla="*/ 2147483646 w 294"/>
                <a:gd name="T13" fmla="*/ 0 h 568"/>
                <a:gd name="T14" fmla="*/ 2147483646 w 294"/>
                <a:gd name="T15" fmla="*/ 0 h 568"/>
                <a:gd name="T16" fmla="*/ 2147483646 w 294"/>
                <a:gd name="T17" fmla="*/ 2147483646 h 568"/>
                <a:gd name="T18" fmla="*/ 2147483646 w 294"/>
                <a:gd name="T19" fmla="*/ 2147483646 h 568"/>
                <a:gd name="T20" fmla="*/ 2147483646 w 294"/>
                <a:gd name="T21" fmla="*/ 2147483646 h 568"/>
                <a:gd name="T22" fmla="*/ 2147483646 w 294"/>
                <a:gd name="T23" fmla="*/ 2147483646 h 568"/>
                <a:gd name="T24" fmla="*/ 2147483646 w 294"/>
                <a:gd name="T25" fmla="*/ 2147483646 h 568"/>
                <a:gd name="T26" fmla="*/ 0 w 294"/>
                <a:gd name="T27" fmla="*/ 2147483646 h 568"/>
                <a:gd name="T28" fmla="*/ 2147483646 w 294"/>
                <a:gd name="T29" fmla="*/ 2147483646 h 568"/>
                <a:gd name="T30" fmla="*/ 2147483646 w 294"/>
                <a:gd name="T31" fmla="*/ 2147483646 h 5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2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2147483646 w 25"/>
                <a:gd name="T3" fmla="*/ 2147483646 h 53"/>
                <a:gd name="T4" fmla="*/ 2147483646 w 25"/>
                <a:gd name="T5" fmla="*/ 2147483646 h 53"/>
                <a:gd name="T6" fmla="*/ 0 w 25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3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2147483646 w 29"/>
                <a:gd name="T3" fmla="*/ 2147483646 h 141"/>
                <a:gd name="T4" fmla="*/ 2147483646 w 29"/>
                <a:gd name="T5" fmla="*/ 2147483646 h 141"/>
                <a:gd name="T6" fmla="*/ 2147483646 w 29"/>
                <a:gd name="T7" fmla="*/ 2147483646 h 141"/>
                <a:gd name="T8" fmla="*/ 2147483646 w 29"/>
                <a:gd name="T9" fmla="*/ 2147483646 h 141"/>
                <a:gd name="T10" fmla="*/ 2147483646 w 29"/>
                <a:gd name="T11" fmla="*/ 2147483646 h 141"/>
                <a:gd name="T12" fmla="*/ 2147483646 w 29"/>
                <a:gd name="T13" fmla="*/ 2147483646 h 141"/>
                <a:gd name="T14" fmla="*/ 0 w 29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4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2147483646 h 48"/>
                <a:gd name="T8" fmla="*/ 0 w 8"/>
                <a:gd name="T9" fmla="*/ 0 h 48"/>
                <a:gd name="T10" fmla="*/ 0 w 8"/>
                <a:gd name="T11" fmla="*/ 2147483646 h 48"/>
                <a:gd name="T12" fmla="*/ 0 w 8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5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2147483646 w 44"/>
                <a:gd name="T1" fmla="*/ 2147483646 h 111"/>
                <a:gd name="T2" fmla="*/ 0 w 44"/>
                <a:gd name="T3" fmla="*/ 0 h 111"/>
                <a:gd name="T4" fmla="*/ 2147483646 w 44"/>
                <a:gd name="T5" fmla="*/ 2147483646 h 111"/>
                <a:gd name="T6" fmla="*/ 2147483646 w 44"/>
                <a:gd name="T7" fmla="*/ 2147483646 h 111"/>
                <a:gd name="T8" fmla="*/ 2147483646 w 44"/>
                <a:gd name="T9" fmla="*/ 2147483646 h 111"/>
                <a:gd name="T10" fmla="*/ 2147483646 w 44"/>
                <a:gd name="T11" fmla="*/ 2147483646 h 111"/>
                <a:gd name="T12" fmla="*/ 2147483646 w 44"/>
                <a:gd name="T13" fmla="*/ 2147483646 h 111"/>
                <a:gd name="T14" fmla="*/ 2147483646 w 44"/>
                <a:gd name="T15" fmla="*/ 2147483646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2592388" y="623888"/>
            <a:ext cx="8912225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89213" y="2133600"/>
            <a:ext cx="8915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3" y="6130925"/>
            <a:ext cx="1146175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457200">
              <a:defRPr/>
            </a:pPr>
            <a:fld id="{911CBCAD-6640-4DFD-ADED-C6F9CB4647FF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3" y="6135688"/>
            <a:ext cx="76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4572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3" y="787400"/>
            <a:ext cx="7794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>
                <a:solidFill>
                  <a:srgbClr val="FEFFFF"/>
                </a:solidFill>
                <a:latin typeface="+mn-lt"/>
              </a:defRPr>
            </a:lvl1pPr>
          </a:lstStyle>
          <a:p>
            <a:pPr defTabSz="457200">
              <a:defRPr/>
            </a:pPr>
            <a:fld id="{AF83C0FB-3F18-4E79-9725-9521E19A67A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7072" y="2050706"/>
            <a:ext cx="11162190" cy="2302516"/>
          </a:xfrm>
        </p:spPr>
        <p:txBody>
          <a:bodyPr>
            <a:noAutofit/>
          </a:bodyPr>
          <a:lstStyle/>
          <a:p>
            <a:pPr algn="ctr"/>
            <a:br>
              <a:rPr lang="en-US" altLang="zh-CN" sz="4900" b="1" dirty="0"/>
            </a:br>
            <a:r>
              <a:rPr lang="zh-CN" altLang="en-US" sz="4900" b="1" dirty="0"/>
              <a:t>数字系统实验</a:t>
            </a:r>
            <a:r>
              <a:rPr lang="en-US" altLang="zh-CN" sz="4900" b="1" dirty="0"/>
              <a:t>2</a:t>
            </a:r>
            <a:br>
              <a:rPr lang="en-US" altLang="zh-CN" sz="4900" b="1"/>
            </a:br>
            <a:br>
              <a:rPr lang="en-US" altLang="zh-CN" sz="4900" b="1" dirty="0"/>
            </a:br>
            <a:r>
              <a:rPr lang="en-US" altLang="zh-CN" sz="4900" b="1" dirty="0"/>
              <a:t> </a:t>
            </a:r>
            <a:r>
              <a:rPr lang="zh-CN" altLang="en-US" sz="4900" b="1" dirty="0">
                <a:solidFill>
                  <a:srgbClr val="FF0000"/>
                </a:solidFill>
              </a:rPr>
              <a:t>简易电梯控制系统的设计</a:t>
            </a:r>
            <a:br>
              <a:rPr lang="en-US" altLang="zh-CN" sz="4900" b="1" dirty="0">
                <a:solidFill>
                  <a:srgbClr val="FF0000"/>
                </a:solidFill>
              </a:rPr>
            </a:br>
            <a:r>
              <a:rPr lang="zh-CN" altLang="en-US" sz="4900" b="1" dirty="0">
                <a:solidFill>
                  <a:srgbClr val="FF0000"/>
                </a:solidFill>
              </a:rPr>
              <a:t>（基础部分要求）</a:t>
            </a:r>
            <a:br>
              <a:rPr lang="en-US" altLang="zh-CN" sz="4900" b="1" dirty="0"/>
            </a:br>
            <a:endParaRPr lang="zh-CN" alt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47901" y="0"/>
            <a:ext cx="5586499" cy="790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b="1" dirty="0">
                <a:solidFill>
                  <a:srgbClr val="0000CC"/>
                </a:solidFill>
              </a:rPr>
              <a:t>一、设计要求及需求分析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17607" y="1644087"/>
            <a:ext cx="771340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层楼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的简易电梯控制系统。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电梯有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个按键。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楼外只有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楼外只有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，电梯内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键分别为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(KEY2)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所有楼层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和电梯内的按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产生的信号作为给电梯的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运行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请求信号。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电梯有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个指示灯（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LED0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LED1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LED2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LED3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LED0: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按下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若电梯不在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楼，则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亮。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LED1: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按下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若电梯不在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楼，则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亮。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LED2: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电梯在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楼，按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则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亮，电梯到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灭。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LED3: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电梯在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楼，按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则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亮，电梯到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灭。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36944" y="2097107"/>
            <a:ext cx="126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楼层指示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645" y="1290930"/>
            <a:ext cx="454974" cy="7730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02882" y="2097911"/>
            <a:ext cx="126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复位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30" y="1066217"/>
            <a:ext cx="714475" cy="9431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064" y="1066217"/>
            <a:ext cx="714475" cy="943107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01513" y="2097911"/>
            <a:ext cx="126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运行状态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710" y="1290930"/>
            <a:ext cx="454974" cy="77304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438259" y="2097911"/>
            <a:ext cx="126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启动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36" y="2570608"/>
            <a:ext cx="4007503" cy="38531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47725" y="0"/>
            <a:ext cx="1097534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b="1" dirty="0">
                <a:solidFill>
                  <a:srgbClr val="0000CC"/>
                </a:solidFill>
              </a:rPr>
              <a:t>一、设计要求及需求分析（详细要求见验收表）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78480" y="1407764"/>
            <a:ext cx="7713405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、有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个数码管，分别显示当前运行状态及楼层。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个数码管显示当前运行状态，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电梯有三个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运行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状态：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待机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、上行、下行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待机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：电梯停在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楼或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楼且无请求信号时均为待机状态。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上行状态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：电梯停在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楼，有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被按下时进入上行状态。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下行状态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：电梯停在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楼，有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被按下时进入 下行状态。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个数码管</a:t>
            </a:r>
            <a:r>
              <a:rPr lang="zh-CN" altLang="en-US" sz="2000" dirty="0"/>
              <a:t>显示所在楼层，显示</a:t>
            </a:r>
            <a:r>
              <a:rPr lang="en-US" altLang="zh-CN" sz="2000" dirty="0"/>
              <a:t>1</a:t>
            </a:r>
            <a:r>
              <a:rPr lang="zh-CN" altLang="en-US" sz="2000" dirty="0"/>
              <a:t>或</a:t>
            </a:r>
            <a:r>
              <a:rPr lang="en-US" altLang="zh-CN" sz="2000" dirty="0"/>
              <a:t>2</a:t>
            </a:r>
            <a:r>
              <a:rPr lang="zh-CN" altLang="en-US" sz="2000" dirty="0"/>
              <a:t>；每一层楼之间的运行时间间隔为</a:t>
            </a:r>
            <a:r>
              <a:rPr lang="en-US" altLang="zh-CN" sz="2000" b="1" u="sng" dirty="0">
                <a:solidFill>
                  <a:srgbClr val="FF0000"/>
                </a:solidFill>
              </a:rPr>
              <a:t>4</a:t>
            </a:r>
            <a:r>
              <a:rPr lang="zh-CN" altLang="en-US" sz="2000" dirty="0"/>
              <a:t>秒。</a:t>
            </a:r>
            <a:endParaRPr lang="zh-CN" altLang="en-US" sz="2000" dirty="0"/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、有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个拨码开关。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）复位开关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SW11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SW11</a:t>
            </a:r>
            <a:r>
              <a:rPr lang="zh-CN" altLang="en-US" sz="2000" dirty="0"/>
              <a:t>向下拨动后，电梯复位回到</a:t>
            </a:r>
            <a:r>
              <a:rPr lang="en-US" altLang="zh-CN" sz="2000" dirty="0"/>
              <a:t>1</a:t>
            </a:r>
            <a:r>
              <a:rPr lang="zh-CN" altLang="en-US" sz="2000" dirty="0"/>
              <a:t>楼。电梯正常工作时</a:t>
            </a:r>
            <a:r>
              <a:rPr lang="en-US" altLang="zh-CN" sz="2000" dirty="0"/>
              <a:t>K1</a:t>
            </a:r>
            <a:r>
              <a:rPr lang="zh-CN" altLang="en-US" sz="2000" dirty="0">
                <a:sym typeface="+mn-ea"/>
              </a:rPr>
              <a:t>拨至上方。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）启动开关</a:t>
            </a:r>
            <a:r>
              <a:rPr lang="en-US" altLang="zh-CN" sz="2000" dirty="0"/>
              <a:t>SW0</a:t>
            </a:r>
            <a:r>
              <a:rPr lang="zh-CN" altLang="en-US" sz="2000" dirty="0"/>
              <a:t>。</a:t>
            </a:r>
            <a:r>
              <a:rPr lang="en-US" altLang="zh-CN" sz="2000" dirty="0"/>
              <a:t>SW0</a:t>
            </a:r>
            <a:r>
              <a:rPr lang="zh-CN" altLang="en-US" sz="2000" dirty="0"/>
              <a:t>向上拨动后，按键有效，电梯正常工作。</a:t>
            </a:r>
            <a:r>
              <a:rPr lang="en-US" altLang="zh-CN" sz="2000" dirty="0"/>
              <a:t>K2</a:t>
            </a:r>
            <a:r>
              <a:rPr lang="zh-CN" altLang="en-US" sz="2000" dirty="0"/>
              <a:t>拨动至下方启动无效，电梯不工作，数码管上显示或</a:t>
            </a:r>
            <a:r>
              <a:rPr lang="en-US" altLang="zh-CN" sz="2000" dirty="0"/>
              <a:t>“OFF”</a:t>
            </a:r>
            <a:r>
              <a:rPr lang="zh-CN" altLang="en-US" sz="2000" dirty="0"/>
              <a:t>，</a:t>
            </a:r>
            <a:r>
              <a:rPr lang="en-US" altLang="zh-CN" sz="2000" dirty="0"/>
              <a:t>K2</a:t>
            </a:r>
            <a:r>
              <a:rPr lang="zh-CN" altLang="en-US" sz="2000" dirty="0"/>
              <a:t>再次</a:t>
            </a:r>
            <a:r>
              <a:rPr lang="zh-CN" altLang="en-US" sz="2000" dirty="0">
                <a:sym typeface="+mn-ea"/>
              </a:rPr>
              <a:t>向上拨动后</a:t>
            </a:r>
            <a:r>
              <a:rPr lang="zh-CN" sz="2000" dirty="0"/>
              <a:t>，先显示</a:t>
            </a:r>
            <a:r>
              <a:rPr lang="en-US" altLang="zh-CN" sz="2000" dirty="0"/>
              <a:t>“on”</a:t>
            </a:r>
            <a:r>
              <a:rPr lang="zh-CN" altLang="zh-CN" sz="2000" dirty="0"/>
              <a:t>。</a:t>
            </a:r>
            <a:endParaRPr lang="en-US" altLang="zh-CN" sz="2000" dirty="0"/>
          </a:p>
          <a:p>
            <a:r>
              <a:rPr lang="en-US" altLang="zh-CN" sz="2000" b="1" dirty="0">
                <a:solidFill>
                  <a:srgbClr val="FF0000"/>
                </a:solidFill>
              </a:rPr>
              <a:t>6</a:t>
            </a:r>
            <a:r>
              <a:rPr lang="zh-CN" altLang="en-US" sz="2000" b="1" dirty="0">
                <a:solidFill>
                  <a:srgbClr val="FF0000"/>
                </a:solidFill>
              </a:rPr>
              <a:t>、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其它功能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。（发挥功能见验收表）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645" y="1290930"/>
            <a:ext cx="454974" cy="7730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2882" y="2097911"/>
            <a:ext cx="126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复位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30" y="1066217"/>
            <a:ext cx="714475" cy="9431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064" y="1066217"/>
            <a:ext cx="714475" cy="94310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01513" y="2097911"/>
            <a:ext cx="126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运行状态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36944" y="2097911"/>
            <a:ext cx="126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楼层指示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710" y="1290930"/>
            <a:ext cx="454974" cy="7730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38259" y="2097911"/>
            <a:ext cx="126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启动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36" y="2570608"/>
            <a:ext cx="4007503" cy="38531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685668" y="169115"/>
            <a:ext cx="10294058" cy="790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b="1" dirty="0">
                <a:solidFill>
                  <a:srgbClr val="0000CC"/>
                </a:solidFill>
              </a:rPr>
              <a:t>二、验收相关要求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graphicFrame>
        <p:nvGraphicFramePr>
          <p:cNvPr id="6" name="表格 6"/>
          <p:cNvGraphicFramePr>
            <a:graphicFrameLocks noGrp="1"/>
          </p:cNvGraphicFramePr>
          <p:nvPr/>
        </p:nvGraphicFramePr>
        <p:xfrm>
          <a:off x="1769806" y="940539"/>
          <a:ext cx="8820807" cy="2434129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96413"/>
                <a:gridCol w="1371600"/>
                <a:gridCol w="1263649"/>
                <a:gridCol w="5389145"/>
              </a:tblGrid>
              <a:tr h="3614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按键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 功能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指示灯及引脚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功能</a:t>
                      </a:r>
                      <a:endParaRPr lang="zh-CN" altLang="en-US" sz="1400" dirty="0"/>
                    </a:p>
                  </a:txBody>
                  <a:tcPr/>
                </a:tc>
              </a:tr>
              <a:tr h="5050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KEY0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一楼上行按键（电梯外）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(LED0)P9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按下</a:t>
                      </a:r>
                      <a:r>
                        <a:rPr lang="en-US" altLang="zh-CN" sz="1400" dirty="0"/>
                        <a:t>KEY0</a:t>
                      </a:r>
                      <a:r>
                        <a:rPr lang="zh-CN" altLang="en-US" sz="1400" dirty="0"/>
                        <a:t>键</a:t>
                      </a:r>
                      <a:r>
                        <a:rPr lang="en-US" altLang="zh-CN" sz="1400" dirty="0"/>
                        <a:t>, </a:t>
                      </a:r>
                      <a:r>
                        <a:rPr lang="zh-CN" altLang="en-US" sz="1400" dirty="0"/>
                        <a:t>若电梯不在</a:t>
                      </a:r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楼，则</a:t>
                      </a:r>
                      <a:r>
                        <a:rPr lang="en-US" altLang="zh-CN" sz="1400" dirty="0"/>
                        <a:t>LED0</a:t>
                      </a:r>
                      <a:r>
                        <a:rPr lang="zh-CN" altLang="en-US" sz="1400" dirty="0"/>
                        <a:t>亮</a:t>
                      </a:r>
                      <a:r>
                        <a:rPr lang="en-US" altLang="zh-CN" sz="1400" dirty="0"/>
                        <a:t>,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电梯到达</a:t>
                      </a:r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楼后，</a:t>
                      </a:r>
                      <a:r>
                        <a:rPr lang="en-US" altLang="zh-CN" sz="1400" dirty="0"/>
                        <a:t>LED0</a:t>
                      </a:r>
                      <a:r>
                        <a:rPr lang="zh-CN" altLang="en-US" sz="1400" dirty="0"/>
                        <a:t>指示灯灭掉</a:t>
                      </a:r>
                      <a:r>
                        <a:rPr lang="en-US" altLang="zh-CN" sz="1400" dirty="0"/>
                        <a:t>.</a:t>
                      </a:r>
                      <a:endParaRPr lang="zh-CN" altLang="en-US" sz="1400" dirty="0"/>
                    </a:p>
                  </a:txBody>
                  <a:tcPr/>
                </a:tc>
              </a:tr>
              <a:tr h="50509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KEY1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二楼下行按键（电梯外）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(LED1)R8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按下</a:t>
                      </a:r>
                      <a:r>
                        <a:rPr lang="en-US" altLang="zh-CN" sz="1400" dirty="0"/>
                        <a:t>KEY1</a:t>
                      </a:r>
                      <a:r>
                        <a:rPr lang="zh-CN" altLang="en-US" sz="1400" dirty="0"/>
                        <a:t>键</a:t>
                      </a:r>
                      <a:r>
                        <a:rPr lang="en-US" altLang="zh-CN" sz="1400" dirty="0"/>
                        <a:t>, </a:t>
                      </a:r>
                      <a:r>
                        <a:rPr lang="zh-CN" altLang="en-US" sz="1400" dirty="0"/>
                        <a:t>若电梯不在</a:t>
                      </a:r>
                      <a:r>
                        <a:rPr lang="en-US" altLang="zh-CN" sz="1400" dirty="0"/>
                        <a:t>2</a:t>
                      </a:r>
                      <a:r>
                        <a:rPr lang="zh-CN" altLang="en-US" sz="1400" dirty="0"/>
                        <a:t>楼，则</a:t>
                      </a:r>
                      <a:r>
                        <a:rPr lang="en-US" altLang="zh-CN" sz="1400" dirty="0"/>
                        <a:t>LED1</a:t>
                      </a:r>
                      <a:r>
                        <a:rPr lang="zh-CN" altLang="en-US" sz="1400" dirty="0"/>
                        <a:t>亮</a:t>
                      </a:r>
                      <a:r>
                        <a:rPr lang="en-US" altLang="zh-CN" sz="1400" dirty="0"/>
                        <a:t>,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电梯到达</a:t>
                      </a:r>
                      <a:r>
                        <a:rPr lang="en-US" altLang="zh-CN" sz="1400" dirty="0"/>
                        <a:t>2</a:t>
                      </a:r>
                      <a:r>
                        <a:rPr lang="zh-CN" altLang="en-US" sz="1400" dirty="0"/>
                        <a:t>楼后，</a:t>
                      </a:r>
                      <a:r>
                        <a:rPr lang="en-US" altLang="zh-CN" sz="1400" dirty="0"/>
                        <a:t>LED1</a:t>
                      </a:r>
                      <a:r>
                        <a:rPr lang="zh-CN" altLang="en-US" sz="1400" dirty="0"/>
                        <a:t>指示灯灭掉</a:t>
                      </a:r>
                      <a:r>
                        <a:rPr lang="en-US" altLang="zh-CN" sz="1400" dirty="0"/>
                        <a:t>.</a:t>
                      </a:r>
                      <a:endParaRPr lang="zh-CN" altLang="en-US" sz="1400" dirty="0"/>
                    </a:p>
                  </a:txBody>
                  <a:tcPr/>
                </a:tc>
              </a:tr>
              <a:tr h="50509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KEY2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一楼按键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（电梯内）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(LED2)R7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电梯在</a:t>
                      </a:r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楼，按</a:t>
                      </a:r>
                      <a:r>
                        <a:rPr lang="en-US" altLang="zh-CN" sz="1400" dirty="0"/>
                        <a:t>KEY3</a:t>
                      </a:r>
                      <a:r>
                        <a:rPr lang="zh-CN" altLang="en-US" sz="1400" dirty="0"/>
                        <a:t>键</a:t>
                      </a:r>
                      <a:r>
                        <a:rPr lang="en-US" altLang="zh-CN" sz="1400" dirty="0"/>
                        <a:t>,</a:t>
                      </a:r>
                      <a:r>
                        <a:rPr lang="zh-CN" altLang="en-US" sz="1400" dirty="0"/>
                        <a:t> 则</a:t>
                      </a:r>
                      <a:r>
                        <a:rPr lang="en-US" altLang="zh-CN" sz="1400" dirty="0"/>
                        <a:t>LED3</a:t>
                      </a:r>
                      <a:r>
                        <a:rPr lang="zh-CN" altLang="en-US" sz="1400" dirty="0"/>
                        <a:t>亮，电梯到</a:t>
                      </a:r>
                      <a:r>
                        <a:rPr lang="en-US" altLang="zh-CN" sz="1400" dirty="0"/>
                        <a:t>2</a:t>
                      </a:r>
                      <a:r>
                        <a:rPr lang="zh-CN" altLang="en-US" sz="1400" dirty="0"/>
                        <a:t>楼后</a:t>
                      </a:r>
                      <a:r>
                        <a:rPr lang="en-US" altLang="zh-CN" sz="1400" dirty="0"/>
                        <a:t>LED3</a:t>
                      </a:r>
                      <a:r>
                        <a:rPr lang="zh-CN" altLang="en-US" sz="1400" dirty="0"/>
                        <a:t>灭。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509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KEY3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</a:t>
                      </a:r>
                      <a:r>
                        <a:rPr lang="zh-CN" altLang="en-US" sz="1400" dirty="0"/>
                        <a:t>楼按键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（电梯内）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(LED3)T5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电梯在</a:t>
                      </a:r>
                      <a:r>
                        <a:rPr lang="en-US" altLang="zh-CN" sz="1400" dirty="0"/>
                        <a:t>2</a:t>
                      </a:r>
                      <a:r>
                        <a:rPr lang="zh-CN" altLang="en-US" sz="1400" dirty="0"/>
                        <a:t>楼，按</a:t>
                      </a:r>
                      <a:r>
                        <a:rPr lang="en-US" altLang="zh-CN" sz="1400" dirty="0"/>
                        <a:t>KEY2</a:t>
                      </a:r>
                      <a:r>
                        <a:rPr lang="zh-CN" altLang="en-US" sz="1400" dirty="0"/>
                        <a:t>键</a:t>
                      </a:r>
                      <a:r>
                        <a:rPr lang="en-US" altLang="zh-CN" sz="1400" dirty="0"/>
                        <a:t>,</a:t>
                      </a:r>
                      <a:r>
                        <a:rPr lang="zh-CN" altLang="en-US" sz="1400" dirty="0"/>
                        <a:t> 则</a:t>
                      </a:r>
                      <a:r>
                        <a:rPr lang="en-US" altLang="zh-CN" sz="1400" dirty="0"/>
                        <a:t>LED2</a:t>
                      </a:r>
                      <a:r>
                        <a:rPr lang="zh-CN" altLang="en-US" sz="1400" dirty="0"/>
                        <a:t>亮，电梯到</a:t>
                      </a:r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楼后</a:t>
                      </a:r>
                      <a:r>
                        <a:rPr lang="en-US" altLang="zh-CN" sz="1400" dirty="0"/>
                        <a:t>LED2</a:t>
                      </a:r>
                      <a:r>
                        <a:rPr lang="zh-CN" altLang="en-US" sz="1400" dirty="0"/>
                        <a:t>灭。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2"/>
          <p:cNvGraphicFramePr>
            <a:graphicFrameLocks noGrp="1"/>
          </p:cNvGraphicFramePr>
          <p:nvPr/>
        </p:nvGraphicFramePr>
        <p:xfrm>
          <a:off x="1778728" y="3490304"/>
          <a:ext cx="8811884" cy="2044587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66336"/>
                <a:gridCol w="2790436"/>
                <a:gridCol w="1581261"/>
                <a:gridCol w="3073851"/>
              </a:tblGrid>
              <a:tr h="49269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楼层数码管引脚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运行状态数码管引脚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140450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显示所在楼层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或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；每一层楼之间的运行时间间隔</a:t>
                      </a:r>
                      <a:r>
                        <a:rPr lang="en-US" altLang="zh-CN" b="1" u="sng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zh-CN" altLang="en-US" dirty="0"/>
                        <a:t>秒。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显示电梯上行、下行、待机状态。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2"/>
          <p:cNvGraphicFramePr>
            <a:graphicFrameLocks noGrp="1"/>
          </p:cNvGraphicFramePr>
          <p:nvPr/>
        </p:nvGraphicFramePr>
        <p:xfrm>
          <a:off x="1778728" y="5677965"/>
          <a:ext cx="8811884" cy="10109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78386"/>
                <a:gridCol w="2078386"/>
                <a:gridCol w="2423210"/>
                <a:gridCol w="223190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复位拨码引脚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启动拨码引脚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向下拨动后，电梯复位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向上拨动后，按键有效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8691" y="4523972"/>
            <a:ext cx="474581" cy="87930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07660" y="0"/>
            <a:ext cx="43497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u="sng" dirty="0">
                <a:solidFill>
                  <a:srgbClr val="FF0000"/>
                </a:solidFill>
              </a:rPr>
              <a:t>基本功能和发挥功能验收参照期末综合验收表要求！</a:t>
            </a:r>
            <a:endParaRPr lang="zh-CN" altLang="en-US" sz="2800" b="1" u="sng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600" y="4523973"/>
            <a:ext cx="640620" cy="8793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560" y="4523972"/>
            <a:ext cx="642578" cy="879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5060" y="1871911"/>
            <a:ext cx="7680994" cy="274113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25291" y="4883729"/>
            <a:ext cx="2784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２层楼电梯运行状态机</a:t>
            </a:r>
            <a:endParaRPr lang="zh-CN" altLang="en-US" b="1" dirty="0"/>
          </a:p>
        </p:txBody>
      </p:sp>
      <p:sp>
        <p:nvSpPr>
          <p:cNvPr id="6" name="标题 1"/>
          <p:cNvSpPr txBox="1"/>
          <p:nvPr/>
        </p:nvSpPr>
        <p:spPr bwMode="auto">
          <a:xfrm>
            <a:off x="685668" y="169115"/>
            <a:ext cx="10294058" cy="790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b="1" dirty="0">
                <a:solidFill>
                  <a:srgbClr val="0000CC"/>
                </a:solidFill>
              </a:rPr>
              <a:t>三、参考方案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8389" y="860739"/>
            <a:ext cx="7291337" cy="566299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78036" y="6075832"/>
            <a:ext cx="2784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４层楼电梯运行状态机</a:t>
            </a:r>
            <a:endParaRPr lang="zh-CN" altLang="en-US" b="1" dirty="0"/>
          </a:p>
        </p:txBody>
      </p:sp>
      <p:sp>
        <p:nvSpPr>
          <p:cNvPr id="7" name="标题 1"/>
          <p:cNvSpPr txBox="1"/>
          <p:nvPr/>
        </p:nvSpPr>
        <p:spPr bwMode="auto">
          <a:xfrm>
            <a:off x="685668" y="169115"/>
            <a:ext cx="10294058" cy="790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b="1" dirty="0">
                <a:solidFill>
                  <a:srgbClr val="0000CC"/>
                </a:solidFill>
              </a:rPr>
              <a:t>三、参考方案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ViMTAyYTg3Mzk5ODNhMzgxZjM3NGY3ZTRkNzcyNGMifQ=="/>
</p:tagLst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WPS 演示</Application>
  <PresentationFormat>宽屏</PresentationFormat>
  <Paragraphs>135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Century Gothic</vt:lpstr>
      <vt:lpstr>Wingdings 3</vt:lpstr>
      <vt:lpstr>Times New Roman</vt:lpstr>
      <vt:lpstr>幼圆</vt:lpstr>
      <vt:lpstr>微软雅黑</vt:lpstr>
      <vt:lpstr>Arial Unicode MS</vt:lpstr>
      <vt:lpstr>Calibri</vt:lpstr>
      <vt:lpstr>丝状</vt:lpstr>
      <vt:lpstr> 数字系统实验2   简易电梯控制系统的设计 （基础部分要求）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wangding</dc:creator>
  <cp:lastModifiedBy>多多瑜</cp:lastModifiedBy>
  <cp:revision>247</cp:revision>
  <dcterms:created xsi:type="dcterms:W3CDTF">2020-11-26T11:40:00Z</dcterms:created>
  <dcterms:modified xsi:type="dcterms:W3CDTF">2023-11-20T07:59:01Z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1F9D2B2826AB4A3D87371A1BF09C70EC_13</vt:lpwstr>
  </property>
  <property fmtid="{D5CDD505-2E9C-101B-9397-08002B2CF9AE}" pid="3" name="KSOProductBuildVer">
    <vt:lpwstr>2052-12.1.0.15712</vt:lpwstr>
  </property>
</Properties>
</file>